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4" r:id="rId5"/>
    <p:sldId id="273" r:id="rId6"/>
    <p:sldId id="275" r:id="rId7"/>
    <p:sldId id="259" r:id="rId8"/>
    <p:sldId id="276" r:id="rId9"/>
    <p:sldId id="260" r:id="rId10"/>
    <p:sldId id="278" r:id="rId11"/>
    <p:sldId id="261" r:id="rId12"/>
    <p:sldId id="264" r:id="rId13"/>
    <p:sldId id="266" r:id="rId14"/>
    <p:sldId id="267" r:id="rId15"/>
    <p:sldId id="272" r:id="rId16"/>
    <p:sldId id="27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14"/>
    <p:restoredTop sz="92670"/>
  </p:normalViewPr>
  <p:slideViewPr>
    <p:cSldViewPr snapToGrid="0" snapToObjects="1">
      <p:cViewPr varScale="1">
        <p:scale>
          <a:sx n="103" d="100"/>
          <a:sy n="103" d="100"/>
        </p:scale>
        <p:origin x="17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7956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99439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46442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656667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088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294635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sz="3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3CBE1-996A-A944-8861-0FE2554D9E7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895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2397" y="456121"/>
            <a:ext cx="4296284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2398" y="2091400"/>
            <a:ext cx="4296283" cy="3508774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dirty="0"/>
              <a:t>Focused on genomics and retrospective clinical data analysis </a:t>
            </a:r>
          </a:p>
          <a:p>
            <a:endParaRPr lang="en-US" dirty="0"/>
          </a:p>
          <a:p>
            <a:r>
              <a:rPr lang="en-US" b="1" dirty="0"/>
              <a:t>Goal: </a:t>
            </a:r>
            <a:r>
              <a:rPr lang="en-US" dirty="0"/>
              <a:t>The goal is to help you avoid the most common, and costly, mistakes before formal analysis even begins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8A9F4C-9A6D-A54B-B791-83A47FC10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94" y="268736"/>
            <a:ext cx="4213685" cy="63205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EDA is not just “plots”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Avoid false discoveries</a:t>
            </a:r>
          </a:p>
          <a:p>
            <a:r>
              <a:rPr dirty="0"/>
              <a:t>Detect bias and confounding</a:t>
            </a:r>
          </a:p>
          <a:p>
            <a:r>
              <a:rPr dirty="0"/>
              <a:t>Guide modeling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EDA 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1. </a:t>
            </a:r>
            <a:r>
              <a:rPr sz="2800" dirty="0"/>
              <a:t>Understand data structure</a:t>
            </a:r>
            <a:endParaRPr lang="en-US" sz="2800" dirty="0"/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What are the basic characteristics of my dataset?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How many observations (rows) and variables (columns) are there?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What types of data are present (numerical, categorical, etc.)?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Do I need to convert any data type?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EDA 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2. Checking Data Quality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Are there missing values? If so, why might they be missing? 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What percentage of the data is missing? Should I drop these rows or replace them with something like the mean?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Are missing values related to another column? If so, how does it affect the drop of missing values?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Are there duplicate records?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Are there any impossible values (e.g., negative ages)?</a:t>
            </a:r>
          </a:p>
        </p:txBody>
      </p:sp>
    </p:spTree>
    <p:extLst>
      <p:ext uri="{BB962C8B-B14F-4D97-AF65-F5344CB8AC3E}">
        <p14:creationId xmlns:p14="http://schemas.microsoft.com/office/powerpoint/2010/main" val="2728827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EDA 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3. Preparing the Data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Do I need to transform the data?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Should categorical variables be converted into dummy variables (one-hot encoding)?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Is the data scaled appropriately, or does it need normalization?</a:t>
            </a:r>
          </a:p>
          <a:p>
            <a:pPr marL="0" indent="0">
              <a:buNone/>
            </a:pP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77432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EDA 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4. Identifying Patterns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What’s the range, mean, median, and standard deviation of the data?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Are there any outliers?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Are there relationships between variables (e.g., correlations, covariation)?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Are there patterns or trends over time (e.g., seasonality or anomalies)?</a:t>
            </a:r>
          </a:p>
          <a:p>
            <a:pPr marL="0" indent="0">
              <a:buNone/>
            </a:pPr>
            <a:br>
              <a:rPr lang="en-US" sz="2800" dirty="0">
                <a:solidFill>
                  <a:schemeClr val="tx2"/>
                </a:solidFill>
              </a:rPr>
            </a:b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02549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EDA Toolkit 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Histograms &amp; density plots → distributions</a:t>
            </a:r>
          </a:p>
          <a:p>
            <a:r>
              <a:rPr lang="en-US" sz="2800" dirty="0"/>
              <a:t>Boxplots &amp; violin plots → group comparisons</a:t>
            </a:r>
          </a:p>
          <a:p>
            <a:r>
              <a:rPr lang="en-US" sz="2800" dirty="0"/>
              <a:t>Scatter plots → relationships</a:t>
            </a:r>
          </a:p>
          <a:p>
            <a:r>
              <a:rPr lang="en-US" sz="2800" dirty="0"/>
              <a:t>Correlation matrices → dependencies</a:t>
            </a:r>
          </a:p>
          <a:p>
            <a:r>
              <a:rPr lang="en-US" sz="2800" dirty="0"/>
              <a:t>Dimensionality reduction (PCA/UMAP) → structure in high dimensions</a:t>
            </a:r>
            <a:endParaRPr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DB0C3E-1521-9042-A5E5-DA29EF15C7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0000"/>
          <a:stretch/>
        </p:blipFill>
        <p:spPr>
          <a:xfrm>
            <a:off x="780641" y="5000625"/>
            <a:ext cx="3644900" cy="1308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554A00-43B8-F946-8241-80E4849AA7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999" b="-274"/>
          <a:stretch/>
        </p:blipFill>
        <p:spPr>
          <a:xfrm>
            <a:off x="4737407" y="4912776"/>
            <a:ext cx="3644900" cy="13152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C378-6DF4-4343-B10C-B5B11E29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Helpful Tools for Data Analysis and Visualization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0E108-4D7B-7E4D-AC39-C00667430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89" y="4061664"/>
            <a:ext cx="7481455" cy="2291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ED1A16-CD78-4B41-B146-6F29A7C4B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89" y="1763498"/>
            <a:ext cx="7461146" cy="152596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A5915D9-6AAD-E947-A040-E05BEC6534FC}"/>
              </a:ext>
            </a:extLst>
          </p:cNvPr>
          <p:cNvSpPr/>
          <p:nvPr/>
        </p:nvSpPr>
        <p:spPr>
          <a:xfrm>
            <a:off x="633572" y="1417638"/>
            <a:ext cx="1757725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R tools</a:t>
            </a:r>
          </a:p>
          <a:p>
            <a:pPr marL="342900" indent="-342900">
              <a:buAutoNum type="arabicPeriod"/>
            </a:pPr>
            <a:endParaRPr lang="en-US" b="1" dirty="0">
              <a:solidFill>
                <a:srgbClr val="242424"/>
              </a:solidFill>
              <a:latin typeface="sohne"/>
            </a:endParaRPr>
          </a:p>
          <a:p>
            <a:pPr marL="342900" indent="-342900">
              <a:buAutoNum type="arabicPeriod"/>
            </a:pPr>
            <a:endParaRPr lang="en-US" b="1" dirty="0">
              <a:solidFill>
                <a:srgbClr val="242424"/>
              </a:solidFill>
              <a:latin typeface="sohne"/>
            </a:endParaRPr>
          </a:p>
          <a:p>
            <a:pPr marL="342900" indent="-342900">
              <a:buAutoNum type="arabicPeriod"/>
            </a:pPr>
            <a:endParaRPr lang="en-US" b="1" dirty="0">
              <a:solidFill>
                <a:srgbClr val="242424"/>
              </a:solidFill>
              <a:latin typeface="sohne"/>
            </a:endParaRPr>
          </a:p>
          <a:p>
            <a:pPr marL="342900" indent="-342900">
              <a:buAutoNum type="arabicPeriod"/>
            </a:pPr>
            <a:endParaRPr lang="en-US" b="1" dirty="0">
              <a:solidFill>
                <a:srgbClr val="242424"/>
              </a:solidFill>
              <a:latin typeface="sohne"/>
            </a:endParaRPr>
          </a:p>
          <a:p>
            <a:pPr marL="342900" indent="-342900">
              <a:buAutoNum type="arabicPeriod"/>
            </a:pPr>
            <a:endParaRPr lang="en-US" b="1" dirty="0">
              <a:solidFill>
                <a:srgbClr val="242424"/>
              </a:solidFill>
              <a:latin typeface="sohne"/>
            </a:endParaRPr>
          </a:p>
          <a:p>
            <a:pPr marL="342900" indent="-342900">
              <a:buAutoNum type="arabicPeriod"/>
            </a:pPr>
            <a:endParaRPr lang="en-US" b="1" dirty="0">
              <a:solidFill>
                <a:srgbClr val="242424"/>
              </a:solidFill>
              <a:latin typeface="sohne"/>
            </a:endParaRPr>
          </a:p>
          <a:p>
            <a:pPr marL="342900" indent="-342900">
              <a:buAutoNum type="arabicPeriod"/>
            </a:pPr>
            <a:endParaRPr lang="en-US" b="1" dirty="0">
              <a:solidFill>
                <a:srgbClr val="242424"/>
              </a:solidFill>
              <a:latin typeface="sohne"/>
            </a:endParaRPr>
          </a:p>
          <a:p>
            <a:pPr marL="342900" indent="-342900">
              <a:buFontTx/>
              <a:buAutoNum type="arabicPeriod"/>
            </a:pPr>
            <a:r>
              <a:rPr lang="en-US" b="1" dirty="0">
                <a:solidFill>
                  <a:srgbClr val="242424"/>
                </a:solidFill>
                <a:latin typeface="sohne"/>
              </a:rPr>
              <a:t>Python Tools</a:t>
            </a:r>
          </a:p>
          <a:p>
            <a:endParaRPr lang="en-US" b="1" i="0" dirty="0">
              <a:solidFill>
                <a:srgbClr val="242424"/>
              </a:solidFill>
              <a:effectLst/>
              <a:latin typeface="sohne"/>
            </a:endParaRPr>
          </a:p>
        </p:txBody>
      </p:sp>
    </p:spTree>
    <p:extLst>
      <p:ext uri="{BB962C8B-B14F-4D97-AF65-F5344CB8AC3E}">
        <p14:creationId xmlns:p14="http://schemas.microsoft.com/office/powerpoint/2010/main" val="1392389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Genomics</a:t>
            </a:r>
            <a:r>
              <a:rPr b="1" dirty="0"/>
              <a:t> Data Context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E79B06-3023-554D-83F4-FFB3643FB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42" y="1417638"/>
            <a:ext cx="8310716" cy="45331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Quality Control</a:t>
            </a:r>
          </a:p>
          <a:p>
            <a:pPr lvl="1"/>
            <a:r>
              <a:rPr lang="en-US" sz="2000" dirty="0"/>
              <a:t>Sequencing depth (library size) </a:t>
            </a:r>
          </a:p>
          <a:p>
            <a:pPr lvl="1"/>
            <a:r>
              <a:rPr lang="en-US" sz="2000" dirty="0"/>
              <a:t>Number of detected genes </a:t>
            </a:r>
          </a:p>
          <a:p>
            <a:pPr lvl="1"/>
            <a:r>
              <a:rPr lang="en-US" sz="2000" dirty="0"/>
              <a:t>Mitochondrial gene percentage in single-cell data</a:t>
            </a:r>
            <a:endParaRPr lang="en-US" sz="2000" b="1" dirty="0"/>
          </a:p>
          <a:p>
            <a:r>
              <a:rPr lang="en-US" sz="2400" b="1" dirty="0"/>
              <a:t>Normalization</a:t>
            </a:r>
          </a:p>
          <a:p>
            <a:pPr lvl="1"/>
            <a:r>
              <a:rPr lang="en-US" sz="2000" dirty="0"/>
              <a:t>Raw vs normalized counts</a:t>
            </a:r>
          </a:p>
          <a:p>
            <a:pPr lvl="1"/>
            <a:r>
              <a:rPr lang="en-US" sz="2000" dirty="0"/>
              <a:t>Log transformation</a:t>
            </a:r>
          </a:p>
          <a:p>
            <a:pPr lvl="1"/>
            <a:r>
              <a:rPr lang="en-US" sz="2000" dirty="0"/>
              <a:t>Distribution checks</a:t>
            </a:r>
            <a:endParaRPr lang="en-US" sz="2000" b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44845A3-71AA-5B4A-B098-C5209F790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/>
              <a:t>Genomics</a:t>
            </a:r>
            <a:r>
              <a:rPr b="1" dirty="0"/>
              <a:t> Data Context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45C428-32B9-6442-946B-7759E3CB8F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04" t="17511" r="9355" b="10960"/>
          <a:stretch/>
        </p:blipFill>
        <p:spPr>
          <a:xfrm>
            <a:off x="4190326" y="3775587"/>
            <a:ext cx="4496474" cy="225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556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Dimensionality reduction</a:t>
            </a:r>
          </a:p>
          <a:p>
            <a:pPr lvl="1"/>
            <a:r>
              <a:rPr lang="en-US" sz="2400" dirty="0"/>
              <a:t>Reduces the number of input variables in a dataset while retaining the most important information</a:t>
            </a:r>
          </a:p>
          <a:p>
            <a:pPr lvl="1"/>
            <a:r>
              <a:rPr lang="en-US" sz="2400" dirty="0"/>
              <a:t>PCA: Identifies orthogonal directions (principal components) that maximize variance</a:t>
            </a:r>
          </a:p>
          <a:p>
            <a:pPr lvl="1"/>
            <a:r>
              <a:rPr lang="en-US" sz="2400" dirty="0"/>
              <a:t>Ex: Detect outliers or batch effects vs biology</a:t>
            </a:r>
          </a:p>
          <a:p>
            <a:pPr lvl="1"/>
            <a:endParaRPr lang="en-US" sz="2400" dirty="0"/>
          </a:p>
          <a:p>
            <a:pPr lvl="1"/>
            <a:endParaRPr lang="en-US" sz="2400" b="1" dirty="0"/>
          </a:p>
          <a:p>
            <a:pPr marL="457200" lvl="1" indent="0">
              <a:buNone/>
            </a:pPr>
            <a:endParaRPr lang="en-US" sz="24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44845A3-71AA-5B4A-B098-C5209F790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/>
              <a:t>Genomics</a:t>
            </a:r>
            <a:r>
              <a:rPr b="1" dirty="0"/>
              <a:t> Data Context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BDE1C3-4758-534F-BB2A-4E27DEA08C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475"/>
          <a:stretch/>
        </p:blipFill>
        <p:spPr>
          <a:xfrm>
            <a:off x="1593953" y="4423954"/>
            <a:ext cx="5764366" cy="17022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Genomics Data </a:t>
            </a:r>
            <a:r>
              <a:rPr b="1" dirty="0"/>
              <a:t>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 expression boxplots by condition</a:t>
            </a:r>
          </a:p>
          <a:p>
            <a:r>
              <a:rPr lang="en-US" dirty="0"/>
              <a:t>Heatmaps of variable genes</a:t>
            </a:r>
          </a:p>
          <a:p>
            <a:r>
              <a:rPr lang="en-US" dirty="0"/>
              <a:t>Candidate biomarkers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Clinical Data Context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30FDF88-AD59-274A-8D13-7EF260975152}"/>
              </a:ext>
            </a:extLst>
          </p:cNvPr>
          <p:cNvGrpSpPr/>
          <p:nvPr/>
        </p:nvGrpSpPr>
        <p:grpSpPr>
          <a:xfrm>
            <a:off x="457200" y="1818966"/>
            <a:ext cx="7985434" cy="3802438"/>
            <a:chOff x="457200" y="1509250"/>
            <a:chExt cx="7985434" cy="380243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3CE2E6B-C08F-D741-AB72-0E0F8F115D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22404"/>
            <a:stretch/>
          </p:blipFill>
          <p:spPr>
            <a:xfrm>
              <a:off x="457200" y="1509250"/>
              <a:ext cx="7985434" cy="3379839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24FE29B-F0C6-4A4A-BB46-2AD51E755E19}"/>
                </a:ext>
              </a:extLst>
            </p:cNvPr>
            <p:cNvSpPr/>
            <p:nvPr/>
          </p:nvSpPr>
          <p:spPr>
            <a:xfrm>
              <a:off x="707923" y="4535129"/>
              <a:ext cx="2780071" cy="4455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A410222-DB50-984B-8FD6-0A09107E7AA4}"/>
                </a:ext>
              </a:extLst>
            </p:cNvPr>
            <p:cNvSpPr/>
            <p:nvPr/>
          </p:nvSpPr>
          <p:spPr>
            <a:xfrm>
              <a:off x="5336459" y="4535129"/>
              <a:ext cx="2780071" cy="4455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CA1D058-BD1C-7F44-87B2-121C39F59063}"/>
                </a:ext>
              </a:extLst>
            </p:cNvPr>
            <p:cNvSpPr/>
            <p:nvPr/>
          </p:nvSpPr>
          <p:spPr>
            <a:xfrm>
              <a:off x="4844845" y="4711543"/>
              <a:ext cx="560439" cy="5383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055FB57-71F6-D64E-B5F7-C2835FA8D43A}"/>
                </a:ext>
              </a:extLst>
            </p:cNvPr>
            <p:cNvSpPr/>
            <p:nvPr/>
          </p:nvSpPr>
          <p:spPr>
            <a:xfrm>
              <a:off x="3178278" y="4552431"/>
              <a:ext cx="560439" cy="5383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F23F607-7EDC-4B4B-98D5-1CF9D6527C15}"/>
                </a:ext>
              </a:extLst>
            </p:cNvPr>
            <p:cNvSpPr/>
            <p:nvPr/>
          </p:nvSpPr>
          <p:spPr>
            <a:xfrm>
              <a:off x="3621550" y="4773372"/>
              <a:ext cx="560439" cy="5383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Clinical: Cohort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Cohort Description </a:t>
            </a:r>
          </a:p>
          <a:p>
            <a:pPr lvl="1"/>
            <a:r>
              <a:rPr lang="en-US" dirty="0"/>
              <a:t>Age distribution, sex, and comorbidities</a:t>
            </a:r>
          </a:p>
          <a:p>
            <a:pPr lvl="1"/>
            <a:r>
              <a:rPr lang="en-US" dirty="0"/>
              <a:t>Missing data patterns</a:t>
            </a:r>
          </a:p>
          <a:p>
            <a:r>
              <a:rPr lang="en-US" b="1" dirty="0"/>
              <a:t>Group Comparability</a:t>
            </a:r>
          </a:p>
          <a:p>
            <a:pPr lvl="1"/>
            <a:r>
              <a:rPr lang="en-US" dirty="0"/>
              <a:t>Are they similar at baseline?</a:t>
            </a:r>
          </a:p>
          <a:p>
            <a:r>
              <a:rPr lang="en-US" b="1" dirty="0"/>
              <a:t>Outcomes</a:t>
            </a:r>
          </a:p>
          <a:p>
            <a:pPr lvl="1"/>
            <a:r>
              <a:rPr lang="en-US" dirty="0"/>
              <a:t>Kaplan-Meier curves (survival)</a:t>
            </a:r>
          </a:p>
          <a:p>
            <a:pPr lvl="1"/>
            <a:r>
              <a:rPr lang="en-US" dirty="0"/>
              <a:t>Event rates (frequency of clinical outcomes)</a:t>
            </a:r>
          </a:p>
          <a:p>
            <a:pPr lvl="1"/>
            <a:r>
              <a:rPr lang="en-US" dirty="0"/>
              <a:t>Censoring (unknown exact time-to-event)</a:t>
            </a:r>
          </a:p>
          <a:p>
            <a:r>
              <a:rPr lang="en-US" b="1" dirty="0"/>
              <a:t>Relationships</a:t>
            </a:r>
          </a:p>
          <a:p>
            <a:pPr lvl="1"/>
            <a:r>
              <a:rPr lang="en-US" dirty="0"/>
              <a:t>Scatter plots and correlations </a:t>
            </a:r>
          </a:p>
          <a:p>
            <a:pPr lvl="1"/>
            <a:r>
              <a:rPr lang="en-US" dirty="0"/>
              <a:t>Ex. Lab values vs outcome or Age vs treatment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EDA prevents false conclusions</a:t>
            </a:r>
          </a:p>
          <a:p>
            <a:r>
              <a:rPr dirty="0"/>
              <a:t>Visualization guides modeling</a:t>
            </a:r>
          </a:p>
          <a:p>
            <a:r>
              <a:rPr dirty="0"/>
              <a:t>Always question patterns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What else could explain this pattern?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C232A-54BA-3C44-9D49-1DB7B5C9D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Hands-On Exercise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968D5C-DF8F-B24B-B5C1-104CEBBD4799}"/>
              </a:ext>
            </a:extLst>
          </p:cNvPr>
          <p:cNvSpPr/>
          <p:nvPr/>
        </p:nvSpPr>
        <p:spPr>
          <a:xfrm>
            <a:off x="619312" y="1417638"/>
            <a:ext cx="727411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Objective:</a:t>
            </a:r>
            <a:br>
              <a:rPr lang="en-US" sz="2400" dirty="0"/>
            </a:br>
            <a:r>
              <a:rPr lang="en-US" sz="2400" dirty="0"/>
              <a:t>In this exercise, you will apply what you learned in Module 3 to perform exploratory data analysis (EDA) on your own dataset(s). You may use any programming language (e.g., R or Python) and development environment (e.g., </a:t>
            </a:r>
            <a:r>
              <a:rPr lang="en-US" sz="2400" dirty="0" err="1"/>
              <a:t>RStudio</a:t>
            </a:r>
            <a:r>
              <a:rPr lang="en-US" sz="2400" dirty="0"/>
              <a:t> or </a:t>
            </a:r>
            <a:r>
              <a:rPr lang="en-US" sz="2400" dirty="0" err="1"/>
              <a:t>Jupyter</a:t>
            </a:r>
            <a:r>
              <a:rPr lang="en-US" sz="2400" dirty="0"/>
              <a:t> Notebook)</a:t>
            </a:r>
          </a:p>
          <a:p>
            <a:endParaRPr lang="en-US" sz="2400" dirty="0"/>
          </a:p>
          <a:p>
            <a:r>
              <a:rPr lang="en-US" sz="2400" b="1" dirty="0"/>
              <a:t>Goal:</a:t>
            </a:r>
            <a:br>
              <a:rPr lang="en-US" sz="2400" dirty="0"/>
            </a:br>
            <a:r>
              <a:rPr lang="en-US" sz="2400" dirty="0"/>
              <a:t>Identify key patterns and trends in your data, inform downstream analyses, and generate publication-quality figures that effectively describe your dataset</a:t>
            </a:r>
          </a:p>
        </p:txBody>
      </p:sp>
    </p:spTree>
    <p:extLst>
      <p:ext uri="{BB962C8B-B14F-4D97-AF65-F5344CB8AC3E}">
        <p14:creationId xmlns:p14="http://schemas.microsoft.com/office/powerpoint/2010/main" val="4272826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593</Words>
  <Application>Microsoft Macintosh PowerPoint</Application>
  <PresentationFormat>On-screen Show (4:3)</PresentationFormat>
  <Paragraphs>95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sohne</vt:lpstr>
      <vt:lpstr>Wingdings</vt:lpstr>
      <vt:lpstr>Office Theme</vt:lpstr>
      <vt:lpstr>Exploratory Data Analysis (EDA)</vt:lpstr>
      <vt:lpstr>EDA is not just “plots”</vt:lpstr>
      <vt:lpstr>EDA Core Principles</vt:lpstr>
      <vt:lpstr>EDA Core Principles</vt:lpstr>
      <vt:lpstr>EDA Core Principles</vt:lpstr>
      <vt:lpstr>EDA Core Principles</vt:lpstr>
      <vt:lpstr>Core EDA Toolkit </vt:lpstr>
      <vt:lpstr>Helpful Tools for Data Analysis and Visualization</vt:lpstr>
      <vt:lpstr>Genomics Data Context</vt:lpstr>
      <vt:lpstr>Genomics Data Context</vt:lpstr>
      <vt:lpstr>Genomics Data Context</vt:lpstr>
      <vt:lpstr>Genomics Data Exploration</vt:lpstr>
      <vt:lpstr>Clinical Data Context</vt:lpstr>
      <vt:lpstr>Clinical: Cohort Description</vt:lpstr>
      <vt:lpstr>Key Takeaways</vt:lpstr>
      <vt:lpstr>Hands-On Exercise</vt:lpstr>
    </vt:vector>
  </TitlesOfParts>
  <Manager/>
  <Company/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(EDA)</dc:title>
  <dc:subject/>
  <dc:creator/>
  <cp:keywords/>
  <dc:description>generated using python-pptx</dc:description>
  <cp:lastModifiedBy>Daniela</cp:lastModifiedBy>
  <cp:revision>19</cp:revision>
  <dcterms:created xsi:type="dcterms:W3CDTF">2013-01-27T09:14:16Z</dcterms:created>
  <dcterms:modified xsi:type="dcterms:W3CDTF">2026-04-09T20:46:20Z</dcterms:modified>
  <cp:category/>
</cp:coreProperties>
</file>