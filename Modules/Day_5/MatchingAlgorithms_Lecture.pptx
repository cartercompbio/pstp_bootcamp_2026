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7" r:id="rId2"/>
    <p:sldId id="257" r:id="rId3"/>
    <p:sldId id="268" r:id="rId4"/>
    <p:sldId id="258" r:id="rId5"/>
    <p:sldId id="259" r:id="rId6"/>
    <p:sldId id="278" r:id="rId7"/>
    <p:sldId id="260" r:id="rId8"/>
    <p:sldId id="276" r:id="rId9"/>
    <p:sldId id="270" r:id="rId10"/>
    <p:sldId id="277" r:id="rId11"/>
    <p:sldId id="261" r:id="rId12"/>
    <p:sldId id="279" r:id="rId13"/>
    <p:sldId id="272" r:id="rId14"/>
    <p:sldId id="273" r:id="rId15"/>
    <p:sldId id="262" r:id="rId16"/>
    <p:sldId id="275" r:id="rId17"/>
    <p:sldId id="264" r:id="rId18"/>
    <p:sldId id="265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7"/>
    <p:restoredTop sz="87731"/>
  </p:normalViewPr>
  <p:slideViewPr>
    <p:cSldViewPr snapToGrid="0" snapToObjects="1">
      <p:cViewPr varScale="1">
        <p:scale>
          <a:sx n="97" d="100"/>
          <a:sy n="97" d="100"/>
        </p:scale>
        <p:origin x="171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2072-C747-BA45-AA31-63E5215A7462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3CBE1-996A-A944-8861-0FE2554D9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9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49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60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2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76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79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36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3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9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97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45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41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84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35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08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58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3CBE1-996A-A944-8861-0FE2554D9E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8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#download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46CE-8712-D546-B7B7-AB8328E8D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07741"/>
            <a:ext cx="7772400" cy="2682207"/>
          </a:xfrm>
        </p:spPr>
        <p:txBody>
          <a:bodyPr>
            <a:normAutofit/>
          </a:bodyPr>
          <a:lstStyle/>
          <a:p>
            <a:r>
              <a:rPr lang="en-US" dirty="0"/>
              <a:t>Matching Algorithms in Clinical Data: From Confounding to Causal Insight</a:t>
            </a:r>
          </a:p>
        </p:txBody>
      </p:sp>
    </p:spTree>
    <p:extLst>
      <p:ext uri="{BB962C8B-B14F-4D97-AF65-F5344CB8AC3E}">
        <p14:creationId xmlns:p14="http://schemas.microsoft.com/office/powerpoint/2010/main" val="852453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Matching Matters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68" y="1417638"/>
            <a:ext cx="8678661" cy="4525963"/>
          </a:xfrm>
        </p:spPr>
        <p:txBody>
          <a:bodyPr>
            <a:normAutofit/>
          </a:bodyPr>
          <a:lstStyle/>
          <a:p>
            <a:r>
              <a:rPr lang="en-US" dirty="0"/>
              <a:t>Clinical question framing: </a:t>
            </a:r>
          </a:p>
          <a:p>
            <a:pPr lvl="1"/>
            <a:r>
              <a:rPr lang="en-US" dirty="0"/>
              <a:t>“Does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treatment A </a:t>
            </a:r>
            <a:r>
              <a:rPr lang="en-US" dirty="0"/>
              <a:t>improve outcomes vs </a:t>
            </a:r>
            <a:r>
              <a:rPr lang="en-US" dirty="0">
                <a:solidFill>
                  <a:schemeClr val="accent1"/>
                </a:solidFill>
              </a:rPr>
              <a:t>treatment B</a:t>
            </a:r>
            <a:r>
              <a:rPr lang="en-US" dirty="0"/>
              <a:t>?” </a:t>
            </a:r>
          </a:p>
          <a:p>
            <a:r>
              <a:rPr lang="en-US" dirty="0"/>
              <a:t>Problem: </a:t>
            </a:r>
          </a:p>
          <a:p>
            <a:pPr lvl="1"/>
            <a:r>
              <a:rPr lang="en-US" dirty="0"/>
              <a:t>Randomized controlled trial ≠ Observational data</a:t>
            </a:r>
          </a:p>
          <a:p>
            <a:pPr lvl="1"/>
            <a:r>
              <a:rPr lang="en-US" dirty="0"/>
              <a:t>Confounding: The cause vs the doubt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EC850A-E461-024D-ACFE-597B9A6562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790" r="14425"/>
          <a:stretch/>
        </p:blipFill>
        <p:spPr>
          <a:xfrm>
            <a:off x="1683706" y="5229381"/>
            <a:ext cx="7123043" cy="12277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CC20AC-36B7-814B-A0F7-F59DD1355F0C}"/>
              </a:ext>
            </a:extLst>
          </p:cNvPr>
          <p:cNvSpPr/>
          <p:nvPr/>
        </p:nvSpPr>
        <p:spPr>
          <a:xfrm>
            <a:off x="457200" y="4706251"/>
            <a:ext cx="3831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Treatment assignment is not random.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E95B7-85CE-ED4E-B3B2-5C2B632C14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345" t="19790"/>
          <a:stretch/>
        </p:blipFill>
        <p:spPr>
          <a:xfrm>
            <a:off x="457200" y="5303666"/>
            <a:ext cx="1219881" cy="12277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E801813-20DC-9E4D-BC6A-79313687A3CC}"/>
              </a:ext>
            </a:extLst>
          </p:cNvPr>
          <p:cNvSpPr/>
          <p:nvPr/>
        </p:nvSpPr>
        <p:spPr>
          <a:xfrm>
            <a:off x="128088" y="4019472"/>
            <a:ext cx="8678661" cy="25683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9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64C3-45A1-C044-B8D9-12713EAE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matching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516C8C-745E-3D40-92E5-8A3D8A051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98494"/>
          </a:xfrm>
        </p:spPr>
        <p:txBody>
          <a:bodyPr/>
          <a:lstStyle/>
          <a:p>
            <a:r>
              <a:rPr lang="en-US" dirty="0"/>
              <a:t>Create comparable groups to approximate a randomized controlled trial 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5320B-EB33-BE41-B195-1983A0B5F86C}"/>
              </a:ext>
            </a:extLst>
          </p:cNvPr>
          <p:cNvSpPr/>
          <p:nvPr/>
        </p:nvSpPr>
        <p:spPr>
          <a:xfrm>
            <a:off x="584948" y="3429000"/>
            <a:ext cx="76513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Q: Can you think of an example in your own practice where treatment choice is biased?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86EFFA-5445-2D43-A7ED-740DFC43F618}"/>
              </a:ext>
            </a:extLst>
          </p:cNvPr>
          <p:cNvSpPr/>
          <p:nvPr/>
        </p:nvSpPr>
        <p:spPr>
          <a:xfrm>
            <a:off x="344315" y="2998695"/>
            <a:ext cx="8678661" cy="25683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9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Treatment vs Control</a:t>
            </a:r>
          </a:p>
          <a:p>
            <a:r>
              <a:rPr dirty="0"/>
              <a:t>Confounders</a:t>
            </a:r>
            <a:r>
              <a:rPr lang="en-US" dirty="0"/>
              <a:t>: Variables influencing both treatment and outcome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Ask yourself: Would this variable influence my 	treatment decision AND patient prognosis?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If yes → </a:t>
            </a:r>
            <a:r>
              <a:rPr lang="en-US" u="sng" dirty="0">
                <a:solidFill>
                  <a:schemeClr val="accent1"/>
                </a:solidFill>
              </a:rPr>
              <a:t>it’s a confounder</a:t>
            </a:r>
          </a:p>
          <a:p>
            <a:endParaRPr dirty="0"/>
          </a:p>
          <a:p>
            <a:r>
              <a:rPr lang="en-US" dirty="0"/>
              <a:t>Bias in observational data</a:t>
            </a:r>
            <a:endParaRPr dirty="0"/>
          </a:p>
          <a:p>
            <a:r>
              <a:rPr u="sng" dirty="0"/>
              <a:t>Goal</a:t>
            </a:r>
            <a:r>
              <a:rPr lang="en-US" u="sng" dirty="0"/>
              <a:t> of matching</a:t>
            </a:r>
            <a:r>
              <a:rPr dirty="0"/>
              <a:t>: balance covariates</a:t>
            </a:r>
            <a:r>
              <a:rPr lang="en-US" dirty="0"/>
              <a:t> between groups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3B73C-FB99-8F4F-9FED-9834FC4B1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717" y="247744"/>
            <a:ext cx="1169894" cy="116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31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Exact Matching</a:t>
            </a:r>
            <a:r>
              <a:rPr lang="en-US" dirty="0"/>
              <a:t> (Strict criteria)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Match identical covariates</a:t>
            </a:r>
            <a:endParaRPr lang="en-US" sz="2800" dirty="0"/>
          </a:p>
          <a:p>
            <a:pPr lvl="1"/>
            <a:r>
              <a:rPr lang="en-US" sz="2400" dirty="0"/>
              <a:t>Same age/severity/comorbidities</a:t>
            </a:r>
            <a:endParaRPr lang="en-US" sz="2800" dirty="0"/>
          </a:p>
          <a:p>
            <a:r>
              <a:rPr lang="en-US" sz="2800" dirty="0"/>
              <a:t>Coarsened Exact Matching (CEM)</a:t>
            </a:r>
          </a:p>
          <a:p>
            <a:pPr lvl="1"/>
            <a:r>
              <a:rPr lang="en-US" sz="2400" dirty="0"/>
              <a:t>Groups variables into bins</a:t>
            </a:r>
          </a:p>
          <a:p>
            <a:pPr lvl="1"/>
            <a:r>
              <a:rPr lang="en-US" sz="2400" dirty="0"/>
              <a:t>Performs exact matching on those bins</a:t>
            </a:r>
          </a:p>
          <a:p>
            <a:pPr lvl="1"/>
            <a:r>
              <a:rPr lang="en-US" sz="2400" dirty="0"/>
              <a:t>Ex. age 30–40 instead of exact age</a:t>
            </a:r>
          </a:p>
          <a:p>
            <a:pPr lvl="1"/>
            <a:endParaRPr lang="en-US" sz="2400" dirty="0"/>
          </a:p>
          <a:p>
            <a:pPr marL="400050" lvl="1" indent="0">
              <a:buNone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✔  Very interpretable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✘ Often impractical with many variables (data becomes sparse)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051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Matching methods have four key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174" y="1798983"/>
            <a:ext cx="7348330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Defining a </a:t>
            </a:r>
            <a:r>
              <a:rPr lang="en-US" b="1" dirty="0"/>
              <a:t>distance measure </a:t>
            </a:r>
          </a:p>
          <a:p>
            <a:pPr marL="514350" indent="-514350">
              <a:buAutoNum type="arabicPeriod"/>
            </a:pPr>
            <a:r>
              <a:rPr lang="en-US" dirty="0"/>
              <a:t>Implementing a matching method given that measure of closeness</a:t>
            </a:r>
          </a:p>
          <a:p>
            <a:pPr marL="514350" indent="-514350">
              <a:buAutoNum type="arabicPeriod"/>
            </a:pPr>
            <a:r>
              <a:rPr lang="en-US" dirty="0"/>
              <a:t>Assessing the quality of the resulting matched samples</a:t>
            </a:r>
          </a:p>
          <a:p>
            <a:pPr marL="514350" indent="-514350">
              <a:buAutoNum type="arabicPeriod"/>
            </a:pPr>
            <a:r>
              <a:rPr lang="en-US" dirty="0"/>
              <a:t>Analysis of the outcome of the treatment effect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540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Propensity Score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probability that a patient receives treatment, given their characteristics</a:t>
            </a:r>
          </a:p>
          <a:p>
            <a:r>
              <a:rPr lang="en-US" dirty="0"/>
              <a:t>Logistic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32AC5-E938-B744-865F-9D898411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3578225"/>
            <a:ext cx="54356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1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5466-378E-3A49-8197-465A7089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205CC-D927-5F48-8CC5-948A7601F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81177"/>
            <a:ext cx="8229600" cy="1724891"/>
          </a:xfrm>
        </p:spPr>
        <p:txBody>
          <a:bodyPr>
            <a:normAutofit/>
          </a:bodyPr>
          <a:lstStyle/>
          <a:p>
            <a:r>
              <a:rPr lang="en-US" sz="2400" dirty="0"/>
              <a:t>Fundamental ML algorithm used for binary classification by modeling probabilities using a sigmoid function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2688C3-9142-544A-88CC-D53D8FC5A899}"/>
              </a:ext>
            </a:extLst>
          </p:cNvPr>
          <p:cNvGrpSpPr/>
          <p:nvPr/>
        </p:nvGrpSpPr>
        <p:grpSpPr>
          <a:xfrm>
            <a:off x="1057686" y="2783328"/>
            <a:ext cx="6936201" cy="2952624"/>
            <a:chOff x="669945" y="2700201"/>
            <a:chExt cx="6936201" cy="295262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D4A9CFF-43F0-0C4E-8056-11156B10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785" y="2700201"/>
              <a:ext cx="6557361" cy="295262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B2A015-1286-2444-8E0C-8C0AE0BD9BDC}"/>
                </a:ext>
              </a:extLst>
            </p:cNvPr>
            <p:cNvSpPr/>
            <p:nvPr/>
          </p:nvSpPr>
          <p:spPr>
            <a:xfrm>
              <a:off x="6580909" y="5283493"/>
              <a:ext cx="512618" cy="1846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558D002-0309-6243-9A48-FE4236DD496A}"/>
                </a:ext>
              </a:extLst>
            </p:cNvPr>
            <p:cNvSpPr/>
            <p:nvPr/>
          </p:nvSpPr>
          <p:spPr>
            <a:xfrm>
              <a:off x="2482805" y="5283493"/>
              <a:ext cx="15145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tx2"/>
                  </a:solidFill>
                </a:rPr>
                <a:t>Severity score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9F63CD-F433-9343-82A6-07BB876659A5}"/>
                </a:ext>
              </a:extLst>
            </p:cNvPr>
            <p:cNvSpPr/>
            <p:nvPr/>
          </p:nvSpPr>
          <p:spPr>
            <a:xfrm rot="16200000">
              <a:off x="420478" y="4004325"/>
              <a:ext cx="1237598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2"/>
                  </a:solidFill>
                </a:rPr>
                <a:t>Probability of receiving  treated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990FAF4-EFC7-F249-BF52-F468595EA5B0}"/>
                </a:ext>
              </a:extLst>
            </p:cNvPr>
            <p:cNvSpPr/>
            <p:nvPr/>
          </p:nvSpPr>
          <p:spPr>
            <a:xfrm rot="16200000">
              <a:off x="4251068" y="4169763"/>
              <a:ext cx="512618" cy="18466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654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401C-E281-FB44-8A9A-D5ED0586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332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 err="1"/>
              <a:t>Mahalanobis</a:t>
            </a:r>
            <a:r>
              <a:rPr lang="en-US" dirty="0"/>
              <a:t> Distance Matching: A ‘smart’ distance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8A79B-6596-9945-9F5A-C483FC490FAC}"/>
              </a:ext>
            </a:extLst>
          </p:cNvPr>
          <p:cNvSpPr/>
          <p:nvPr/>
        </p:nvSpPr>
        <p:spPr>
          <a:xfrm>
            <a:off x="457200" y="1596329"/>
            <a:ext cx="841785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Problem: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Not all variables are on the same scale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And some variables are correlated</a:t>
            </a:r>
          </a:p>
          <a:p>
            <a:r>
              <a:rPr lang="en-US" sz="2400" dirty="0"/>
              <a:t>	For example: Age (range: 20-90), lab values (very different 	scales) or clinical scores</a:t>
            </a:r>
          </a:p>
          <a:p>
            <a:endParaRPr lang="en-US" sz="2400" dirty="0"/>
          </a:p>
          <a:p>
            <a:r>
              <a:rPr lang="en-US" sz="2400" b="1" dirty="0"/>
              <a:t>Clinical Interpretation</a:t>
            </a:r>
          </a:p>
          <a:p>
            <a:r>
              <a:rPr lang="en-US" sz="2400" dirty="0"/>
              <a:t>This is especially useful when: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Variables are correlated (e.g., BMI and diabetes)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Variables have very different scales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You want more precise matching</a:t>
            </a:r>
          </a:p>
        </p:txBody>
      </p:sp>
    </p:spTree>
    <p:extLst>
      <p:ext uri="{BB962C8B-B14F-4D97-AF65-F5344CB8AC3E}">
        <p14:creationId xmlns:p14="http://schemas.microsoft.com/office/powerpoint/2010/main" val="110713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402629-5854-C341-8562-E33AADF90EEF}"/>
              </a:ext>
            </a:extLst>
          </p:cNvPr>
          <p:cNvSpPr/>
          <p:nvPr/>
        </p:nvSpPr>
        <p:spPr>
          <a:xfrm>
            <a:off x="725959" y="1582340"/>
            <a:ext cx="76920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529"/>
                </a:solidFill>
              </a:rPr>
              <a:t>The </a:t>
            </a:r>
            <a:r>
              <a:rPr lang="en-US" dirty="0" err="1">
                <a:solidFill>
                  <a:srgbClr val="212529"/>
                </a:solidFill>
              </a:rPr>
              <a:t>Mahalanobis</a:t>
            </a:r>
            <a:r>
              <a:rPr lang="en-US" dirty="0">
                <a:solidFill>
                  <a:srgbClr val="212529"/>
                </a:solidFill>
              </a:rPr>
              <a:t> distance is computed as </a:t>
            </a:r>
          </a:p>
          <a:p>
            <a:endParaRPr lang="en-US" dirty="0">
              <a:solidFill>
                <a:srgbClr val="212529"/>
              </a:solidFill>
            </a:endParaRPr>
          </a:p>
          <a:p>
            <a:endParaRPr lang="en-US" dirty="0">
              <a:solidFill>
                <a:srgbClr val="212529"/>
              </a:solidFill>
            </a:endParaRPr>
          </a:p>
          <a:p>
            <a:endParaRPr lang="en-US" dirty="0">
              <a:solidFill>
                <a:srgbClr val="212529"/>
              </a:solidFill>
            </a:endParaRPr>
          </a:p>
          <a:p>
            <a:endParaRPr lang="en-US" dirty="0">
              <a:solidFill>
                <a:srgbClr val="212529"/>
              </a:solidFill>
            </a:endParaRPr>
          </a:p>
          <a:p>
            <a:endParaRPr lang="en-US" dirty="0">
              <a:solidFill>
                <a:srgbClr val="212529"/>
              </a:solidFill>
            </a:endParaRPr>
          </a:p>
          <a:p>
            <a:endParaRPr lang="en-US" dirty="0">
              <a:solidFill>
                <a:srgbClr val="212529"/>
              </a:solidFill>
            </a:endParaRPr>
          </a:p>
          <a:p>
            <a:endParaRPr lang="en-US" dirty="0">
              <a:solidFill>
                <a:srgbClr val="212529"/>
              </a:solidFill>
            </a:endParaRPr>
          </a:p>
          <a:p>
            <a:r>
              <a:rPr lang="en-US" dirty="0">
                <a:solidFill>
                  <a:srgbClr val="212529"/>
                </a:solidFill>
              </a:rPr>
              <a:t>Where</a:t>
            </a:r>
          </a:p>
          <a:p>
            <a:r>
              <a:rPr lang="en-US" i="1" dirty="0">
                <a:solidFill>
                  <a:srgbClr val="FF0000"/>
                </a:solidFill>
              </a:rPr>
              <a:t>i</a:t>
            </a:r>
            <a:r>
              <a:rPr lang="en-US" i="1" dirty="0"/>
              <a:t>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j</a:t>
            </a:r>
            <a:r>
              <a:rPr lang="en-US" dirty="0"/>
              <a:t> are two patients </a:t>
            </a:r>
          </a:p>
          <a:p>
            <a:r>
              <a:rPr lang="en-US" dirty="0"/>
              <a:t>Each represented by a vector </a:t>
            </a:r>
            <a:r>
              <a:rPr lang="en-US" b="1" i="1" dirty="0">
                <a:solidFill>
                  <a:srgbClr val="FF0000"/>
                </a:solidFill>
              </a:rPr>
              <a:t>x</a:t>
            </a:r>
            <a:r>
              <a:rPr lang="en-US" dirty="0"/>
              <a:t> of variables</a:t>
            </a:r>
            <a:endParaRPr lang="en-US" dirty="0">
              <a:solidFill>
                <a:srgbClr val="212529"/>
              </a:solidFill>
            </a:endParaRPr>
          </a:p>
          <a:p>
            <a:r>
              <a:rPr lang="el-GR" b="1" dirty="0">
                <a:solidFill>
                  <a:srgbClr val="FF0000"/>
                </a:solidFill>
              </a:rPr>
              <a:t>Σ</a:t>
            </a:r>
            <a:r>
              <a:rPr lang="el-GR" dirty="0">
                <a:solidFill>
                  <a:srgbClr val="212529"/>
                </a:solidFill>
              </a:rPr>
              <a:t> </a:t>
            </a:r>
            <a:r>
              <a:rPr lang="en-US" dirty="0">
                <a:solidFill>
                  <a:srgbClr val="212529"/>
                </a:solidFill>
              </a:rPr>
              <a:t>is covariance matrix of the covariates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AD1B0-E62C-9348-958C-A4338AB3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Mahalanobis</a:t>
            </a:r>
            <a:r>
              <a:rPr lang="en-US" dirty="0"/>
              <a:t> Distance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396A6-D317-224A-B290-DBD0D6ED2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86" y="2118327"/>
            <a:ext cx="66421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4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/>
              <a:t>Nearest neighbor matching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Define similarity</a:t>
            </a:r>
          </a:p>
          <a:p>
            <a:pPr lvl="1"/>
            <a:r>
              <a:rPr lang="en-US" sz="2000" dirty="0"/>
              <a:t>You first decide how to measure “closeness”:</a:t>
            </a:r>
          </a:p>
          <a:p>
            <a:pPr lvl="1"/>
            <a:r>
              <a:rPr lang="en-US" sz="2000" dirty="0"/>
              <a:t>Difference in propensity scores (most common) </a:t>
            </a:r>
          </a:p>
          <a:p>
            <a:pPr lvl="1"/>
            <a:r>
              <a:rPr lang="en-US" sz="2000" dirty="0"/>
              <a:t>Or a multivariate distance like </a:t>
            </a:r>
            <a:r>
              <a:rPr lang="en-US" sz="2000" dirty="0" err="1"/>
              <a:t>Mahalanobis</a:t>
            </a:r>
            <a:r>
              <a:rPr lang="en-US" sz="2000" dirty="0"/>
              <a:t> Distance </a:t>
            </a:r>
          </a:p>
          <a:p>
            <a:pPr marL="0" indent="0">
              <a:buNone/>
            </a:pPr>
            <a:r>
              <a:rPr lang="en-US" sz="2400" b="1" dirty="0"/>
              <a:t>2. For each treated patient:</a:t>
            </a:r>
          </a:p>
          <a:p>
            <a:pPr lvl="1"/>
            <a:r>
              <a:rPr lang="en-US" sz="2000" dirty="0"/>
              <a:t>Compute distance to all control patients </a:t>
            </a:r>
          </a:p>
          <a:p>
            <a:pPr lvl="1"/>
            <a:r>
              <a:rPr lang="en-US" sz="2000" dirty="0"/>
              <a:t>Select the control with the </a:t>
            </a:r>
            <a:r>
              <a:rPr lang="en-US" sz="2000" b="1" dirty="0"/>
              <a:t>smallest distance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400" b="1" dirty="0"/>
              <a:t>3. Form matched pairs (or sets)</a:t>
            </a:r>
          </a:p>
          <a:p>
            <a:pPr lvl="1"/>
            <a:r>
              <a:rPr lang="en-US" sz="2000" dirty="0"/>
              <a:t>1:1 matching → one control per treated </a:t>
            </a:r>
          </a:p>
          <a:p>
            <a:pPr lvl="1"/>
            <a:r>
              <a:rPr lang="en-US" sz="2000" dirty="0"/>
              <a:t>1:k matching → multiple controls per treated </a:t>
            </a:r>
          </a:p>
          <a:p>
            <a:endParaRPr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56AA2-4459-0843-B260-889E46AD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152" y="3580107"/>
            <a:ext cx="2508648" cy="28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0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/>
              <a:t>Nearest neighbor matching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05DC6-74DD-F44F-A542-E20F981C2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94" y="1589916"/>
            <a:ext cx="5506089" cy="432401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C5ED6DB-887B-1F4C-BECA-746E7C8B883C}"/>
              </a:ext>
            </a:extLst>
          </p:cNvPr>
          <p:cNvGrpSpPr/>
          <p:nvPr/>
        </p:nvGrpSpPr>
        <p:grpSpPr>
          <a:xfrm>
            <a:off x="571263" y="1417638"/>
            <a:ext cx="1105231" cy="523220"/>
            <a:chOff x="365760" y="1388609"/>
            <a:chExt cx="1105231" cy="52322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C2EBA0-550E-0840-A332-0561C66A228C}"/>
                </a:ext>
              </a:extLst>
            </p:cNvPr>
            <p:cNvSpPr/>
            <p:nvPr/>
          </p:nvSpPr>
          <p:spPr>
            <a:xfrm>
              <a:off x="365760" y="1444142"/>
              <a:ext cx="182880" cy="182880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230C3BC-4470-E544-834B-7496132A2530}"/>
                </a:ext>
              </a:extLst>
            </p:cNvPr>
            <p:cNvSpPr/>
            <p:nvPr/>
          </p:nvSpPr>
          <p:spPr>
            <a:xfrm>
              <a:off x="365760" y="1674730"/>
              <a:ext cx="182880" cy="18288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BB2524-3BD0-224B-B7FB-313960AFACEF}"/>
                </a:ext>
              </a:extLst>
            </p:cNvPr>
            <p:cNvSpPr txBox="1"/>
            <p:nvPr/>
          </p:nvSpPr>
          <p:spPr>
            <a:xfrm>
              <a:off x="548640" y="1388609"/>
              <a:ext cx="9223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Treated</a:t>
              </a:r>
            </a:p>
            <a:p>
              <a:r>
                <a:rPr lang="en-US" sz="1400" dirty="0"/>
                <a:t>Control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861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8FDC-97C9-FA4A-AEE1-7799682A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Matching Methods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D68B01-C236-CB48-9857-DD365318E67A}"/>
              </a:ext>
            </a:extLst>
          </p:cNvPr>
          <p:cNvSpPr/>
          <p:nvPr/>
        </p:nvSpPr>
        <p:spPr>
          <a:xfrm>
            <a:off x="525199" y="1613118"/>
            <a:ext cx="816160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Kernel Matching / Weighting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Instead of matching pairs, assigns weights to all controls based on similarity 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Genetic Matching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Uses optimization algorithms to find the best balance across covariates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Iteratively improves matching quality </a:t>
            </a:r>
          </a:p>
          <a:p>
            <a:r>
              <a:rPr lang="en-US" sz="2400" dirty="0"/>
              <a:t>	✔ Very powerful</a:t>
            </a:r>
            <a:br>
              <a:rPr lang="en-US" sz="2400" dirty="0"/>
            </a:br>
            <a:r>
              <a:rPr lang="en-US" sz="2400" dirty="0"/>
              <a:t>	✘ Computationally intensive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5859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6E5A-734C-EB4E-A8E9-73D106B4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summary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35C99-E582-8749-A9B3-6CFD77769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01800"/>
            <a:ext cx="7543800" cy="316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16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Define treatment &amp; outcome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covariates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Estimate propensity scores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Match</a:t>
            </a:r>
          </a:p>
          <a:p>
            <a:pPr marL="514350" indent="-514350">
              <a:buFont typeface="+mj-lt"/>
              <a:buAutoNum type="arabicPeriod"/>
            </a:pPr>
            <a:r>
              <a:rPr u="sng" dirty="0"/>
              <a:t>Check balance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Estimate effect</a:t>
            </a:r>
          </a:p>
        </p:txBody>
      </p:sp>
    </p:spTree>
    <p:extLst>
      <p:ext uri="{BB962C8B-B14F-4D97-AF65-F5344CB8AC3E}">
        <p14:creationId xmlns:p14="http://schemas.microsoft.com/office/powerpoint/2010/main" val="3425976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232A-54BA-3C44-9D49-1DB7B5C9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Hands-On Exercise: Match patients manually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B6A91D-01F5-BE42-8FB4-089D80A9079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19312" y="2987298"/>
          <a:ext cx="4127500" cy="14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104318093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3241704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11199597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9245306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38185762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Patient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Treatment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Age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Severity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Outcome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2736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High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54847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65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High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44266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Medium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92059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Low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1031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Low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1956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Medium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389733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2968D5C-DF8F-B24B-B5C1-104CEBBD4799}"/>
              </a:ext>
            </a:extLst>
          </p:cNvPr>
          <p:cNvSpPr/>
          <p:nvPr/>
        </p:nvSpPr>
        <p:spPr>
          <a:xfrm>
            <a:off x="619312" y="1417638"/>
            <a:ext cx="72741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Scenario: </a:t>
            </a:r>
            <a:r>
              <a:rPr lang="en-US" sz="2400" dirty="0"/>
              <a:t>You are studying whether a new treatment improves outcomes</a:t>
            </a:r>
          </a:p>
          <a:p>
            <a:endParaRPr lang="en-US" sz="2400" dirty="0"/>
          </a:p>
          <a:p>
            <a:r>
              <a:rPr lang="en-US" sz="2400" b="1" dirty="0"/>
              <a:t>Dataset of 6 patients: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287D7-9255-0749-B75C-FC60AE7A6498}"/>
              </a:ext>
            </a:extLst>
          </p:cNvPr>
          <p:cNvSpPr/>
          <p:nvPr/>
        </p:nvSpPr>
        <p:spPr>
          <a:xfrm>
            <a:off x="619312" y="4719482"/>
            <a:ext cx="66697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Identify Bias: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What differences do you notice between groups?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Who is more likely to receive treatment? </a:t>
            </a:r>
          </a:p>
        </p:txBody>
      </p:sp>
    </p:spTree>
    <p:extLst>
      <p:ext uri="{BB962C8B-B14F-4D97-AF65-F5344CB8AC3E}">
        <p14:creationId xmlns:p14="http://schemas.microsoft.com/office/powerpoint/2010/main" val="3879160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Unmeasured confounders</a:t>
            </a:r>
          </a:p>
          <a:p>
            <a:r>
              <a:rPr dirty="0"/>
              <a:t>Poor overlap</a:t>
            </a:r>
          </a:p>
          <a:p>
            <a:r>
              <a:rPr dirty="0"/>
              <a:t>Sample size reduction</a:t>
            </a:r>
          </a:p>
          <a:p>
            <a:r>
              <a:rPr dirty="0"/>
              <a:t>Not perfect causal inference</a:t>
            </a:r>
          </a:p>
        </p:txBody>
      </p:sp>
    </p:spTree>
    <p:extLst>
      <p:ext uri="{BB962C8B-B14F-4D97-AF65-F5344CB8AC3E}">
        <p14:creationId xmlns:p14="http://schemas.microsoft.com/office/powerpoint/2010/main" val="3554609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Matching improves comparability</a:t>
            </a:r>
          </a:p>
          <a:p>
            <a:r>
              <a:rPr dirty="0"/>
              <a:t>Always check balance</a:t>
            </a:r>
          </a:p>
          <a:p>
            <a:r>
              <a:rPr dirty="0"/>
              <a:t>Use as a tool, not a conclusion</a:t>
            </a:r>
          </a:p>
        </p:txBody>
      </p:sp>
    </p:spTree>
    <p:extLst>
      <p:ext uri="{BB962C8B-B14F-4D97-AF65-F5344CB8AC3E}">
        <p14:creationId xmlns:p14="http://schemas.microsoft.com/office/powerpoint/2010/main" val="4000030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232A-54BA-3C44-9D49-1DB7B5C9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Setup for today’s exercise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68D5C-DF8F-B24B-B5C1-104CEBBD4799}"/>
              </a:ext>
            </a:extLst>
          </p:cNvPr>
          <p:cNvSpPr/>
          <p:nvPr/>
        </p:nvSpPr>
        <p:spPr>
          <a:xfrm>
            <a:off x="619312" y="1417638"/>
            <a:ext cx="72741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Install </a:t>
            </a:r>
            <a:r>
              <a:rPr lang="en-US" sz="2400" b="1" dirty="0" err="1"/>
              <a:t>RStudio</a:t>
            </a:r>
            <a:endParaRPr lang="en-US" sz="2400" b="1" dirty="0"/>
          </a:p>
          <a:p>
            <a:r>
              <a:rPr lang="en-US" sz="2400" dirty="0"/>
              <a:t>	Go to </a:t>
            </a:r>
            <a:r>
              <a:rPr lang="en-US" sz="2400" dirty="0">
                <a:hlinkClick r:id="rId3"/>
              </a:rPr>
              <a:t>https://posit.co/download/rstudio-desktop#download</a:t>
            </a:r>
            <a:r>
              <a:rPr lang="en-US" sz="2400" dirty="0"/>
              <a:t> and follow step #2</a:t>
            </a:r>
          </a:p>
          <a:p>
            <a:endParaRPr lang="en-US" sz="2400" dirty="0"/>
          </a:p>
          <a:p>
            <a:r>
              <a:rPr lang="en-US" sz="2400" b="1" dirty="0"/>
              <a:t>2. Open </a:t>
            </a:r>
            <a:r>
              <a:rPr lang="en-US" sz="2400" b="1" dirty="0" err="1"/>
              <a:t>RStudio</a:t>
            </a:r>
            <a:r>
              <a:rPr lang="en-US" sz="2400" b="1" dirty="0"/>
              <a:t> and install </a:t>
            </a:r>
            <a:r>
              <a:rPr lang="en-US" sz="2400" dirty="0"/>
              <a:t>the required packages with the following line of code:</a:t>
            </a:r>
          </a:p>
          <a:p>
            <a:endParaRPr lang="en-US" sz="2400" dirty="0"/>
          </a:p>
          <a:p>
            <a:r>
              <a:rPr lang="en-US" sz="2400" dirty="0" err="1">
                <a:solidFill>
                  <a:schemeClr val="tx2"/>
                </a:solidFill>
              </a:rPr>
              <a:t>install.packages</a:t>
            </a:r>
            <a:r>
              <a:rPr lang="en-US" sz="2400" dirty="0">
                <a:solidFill>
                  <a:schemeClr val="tx2"/>
                </a:solidFill>
              </a:rPr>
              <a:t>(c('</a:t>
            </a:r>
            <a:r>
              <a:rPr lang="en-US" sz="2400" dirty="0" err="1">
                <a:solidFill>
                  <a:schemeClr val="tx2"/>
                </a:solidFill>
              </a:rPr>
              <a:t>tidyverse</a:t>
            </a:r>
            <a:r>
              <a:rPr lang="en-US" sz="2400" dirty="0">
                <a:solidFill>
                  <a:schemeClr val="tx2"/>
                </a:solidFill>
              </a:rPr>
              <a:t>', '</a:t>
            </a:r>
            <a:r>
              <a:rPr lang="en-US" sz="2400" dirty="0" err="1">
                <a:solidFill>
                  <a:schemeClr val="tx2"/>
                </a:solidFill>
              </a:rPr>
              <a:t>MatchIt</a:t>
            </a:r>
            <a:r>
              <a:rPr lang="en-US" sz="2400" dirty="0">
                <a:solidFill>
                  <a:schemeClr val="tx2"/>
                </a:solidFill>
              </a:rPr>
              <a:t>', 'cobalt'))</a:t>
            </a:r>
          </a:p>
        </p:txBody>
      </p:sp>
    </p:spTree>
    <p:extLst>
      <p:ext uri="{BB962C8B-B14F-4D97-AF65-F5344CB8AC3E}">
        <p14:creationId xmlns:p14="http://schemas.microsoft.com/office/powerpoint/2010/main" val="1590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678</Words>
  <Application>Microsoft Macintosh PowerPoint</Application>
  <PresentationFormat>On-screen Show (4:3)</PresentationFormat>
  <Paragraphs>169</Paragraphs>
  <Slides>19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Matching Algorithms in Clinical Data: From Confounding to Causal Insight</vt:lpstr>
      <vt:lpstr>Why Matching Matters?</vt:lpstr>
      <vt:lpstr>Goal of matching</vt:lpstr>
      <vt:lpstr>Key Concepts</vt:lpstr>
      <vt:lpstr>Exact Matching (Strict criteria)</vt:lpstr>
      <vt:lpstr>Matching methods have four key steps</vt:lpstr>
      <vt:lpstr>Propensity Score Matching</vt:lpstr>
      <vt:lpstr>Logistic regression</vt:lpstr>
      <vt:lpstr>  Mahalanobis Distance Matching: A ‘smart’ distance </vt:lpstr>
      <vt:lpstr>Mahalanobis Distance</vt:lpstr>
      <vt:lpstr>Nearest neighbor matching</vt:lpstr>
      <vt:lpstr>Nearest neighbor matching</vt:lpstr>
      <vt:lpstr>Advanced Matching Methods </vt:lpstr>
      <vt:lpstr>Quick summary</vt:lpstr>
      <vt:lpstr>Workflow</vt:lpstr>
      <vt:lpstr>Hands-On Exercise: Match patients manually</vt:lpstr>
      <vt:lpstr>Limitations</vt:lpstr>
      <vt:lpstr>Takeaways</vt:lpstr>
      <vt:lpstr>Setup for today’s exercise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Algorithms in Clinical Data: From Confounding to Causal Insight</dc:title>
  <dc:subject/>
  <dc:creator/>
  <cp:keywords/>
  <dc:description>generated using python-pptx</dc:description>
  <cp:lastModifiedBy>Daniela</cp:lastModifiedBy>
  <cp:revision>47</cp:revision>
  <dcterms:created xsi:type="dcterms:W3CDTF">2013-01-27T09:14:16Z</dcterms:created>
  <dcterms:modified xsi:type="dcterms:W3CDTF">2026-04-21T23:19:33Z</dcterms:modified>
  <cp:category/>
</cp:coreProperties>
</file>