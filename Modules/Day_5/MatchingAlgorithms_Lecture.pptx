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7" r:id="rId2"/>
    <p:sldId id="257" r:id="rId3"/>
    <p:sldId id="268" r:id="rId4"/>
    <p:sldId id="258" r:id="rId5"/>
    <p:sldId id="259" r:id="rId6"/>
    <p:sldId id="260" r:id="rId7"/>
    <p:sldId id="276" r:id="rId8"/>
    <p:sldId id="261" r:id="rId9"/>
    <p:sldId id="270" r:id="rId10"/>
    <p:sldId id="277" r:id="rId11"/>
    <p:sldId id="272" r:id="rId12"/>
    <p:sldId id="273" r:id="rId13"/>
    <p:sldId id="262" r:id="rId14"/>
    <p:sldId id="275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7"/>
    <p:restoredTop sz="87731"/>
  </p:normalViewPr>
  <p:slideViewPr>
    <p:cSldViewPr snapToGrid="0" snapToObjects="1">
      <p:cViewPr varScale="1">
        <p:scale>
          <a:sx n="97" d="100"/>
          <a:sy n="97" d="100"/>
        </p:scale>
        <p:origin x="1712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D2072-C747-BA45-AA31-63E5215A7462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43CBE1-996A-A944-8861-0FE2554D9E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91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84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463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137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6875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565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371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447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38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06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87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break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056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833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3CBE1-996A-A944-8861-0FE2554D9E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867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A46CE-8712-D546-B7B7-AB8328E8D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07741"/>
            <a:ext cx="7772400" cy="2682207"/>
          </a:xfrm>
        </p:spPr>
        <p:txBody>
          <a:bodyPr>
            <a:normAutofit/>
          </a:bodyPr>
          <a:lstStyle/>
          <a:p>
            <a:r>
              <a:rPr lang="en-US" dirty="0"/>
              <a:t>Matching Algorithms in Clinical Data: From Confounding to Causal Insight</a:t>
            </a:r>
          </a:p>
        </p:txBody>
      </p:sp>
    </p:spTree>
    <p:extLst>
      <p:ext uri="{BB962C8B-B14F-4D97-AF65-F5344CB8AC3E}">
        <p14:creationId xmlns:p14="http://schemas.microsoft.com/office/powerpoint/2010/main" val="1077060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Why Matching Matters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68" y="1417638"/>
            <a:ext cx="8678661" cy="4525963"/>
          </a:xfrm>
        </p:spPr>
        <p:txBody>
          <a:bodyPr>
            <a:normAutofit/>
          </a:bodyPr>
          <a:lstStyle/>
          <a:p>
            <a:r>
              <a:rPr lang="en-US" dirty="0"/>
              <a:t>Clinical question framing: </a:t>
            </a:r>
          </a:p>
          <a:p>
            <a:pPr lvl="1"/>
            <a:r>
              <a:rPr lang="en-US" dirty="0"/>
              <a:t>“Does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treatment A </a:t>
            </a:r>
            <a:r>
              <a:rPr lang="en-US" dirty="0"/>
              <a:t>improve outcomes vs </a:t>
            </a:r>
            <a:r>
              <a:rPr lang="en-US" dirty="0">
                <a:solidFill>
                  <a:schemeClr val="accent1"/>
                </a:solidFill>
              </a:rPr>
              <a:t>treatment B</a:t>
            </a:r>
            <a:r>
              <a:rPr lang="en-US" dirty="0"/>
              <a:t>?” </a:t>
            </a:r>
          </a:p>
          <a:p>
            <a:r>
              <a:rPr lang="en-US" dirty="0"/>
              <a:t>Problem: </a:t>
            </a:r>
          </a:p>
          <a:p>
            <a:pPr lvl="1"/>
            <a:r>
              <a:rPr lang="en-US" dirty="0"/>
              <a:t>Randomized trial ≠ Observational data</a:t>
            </a:r>
          </a:p>
          <a:p>
            <a:pPr lvl="1"/>
            <a:r>
              <a:rPr lang="en-US" dirty="0"/>
              <a:t>Confounding: The cause vs the doubt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9EC850A-E461-024D-ACFE-597B9A656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772680"/>
            <a:ext cx="8323729" cy="153064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E801813-20DC-9E4D-BC6A-79313687A3CC}"/>
              </a:ext>
            </a:extLst>
          </p:cNvPr>
          <p:cNvSpPr/>
          <p:nvPr/>
        </p:nvSpPr>
        <p:spPr>
          <a:xfrm>
            <a:off x="330868" y="4033091"/>
            <a:ext cx="8678661" cy="256838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564C3-45A1-C044-B8D9-12713EAE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matching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516C8C-745E-3D40-92E5-8A3D8A051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398494"/>
          </a:xfrm>
        </p:spPr>
        <p:txBody>
          <a:bodyPr/>
          <a:lstStyle/>
          <a:p>
            <a:r>
              <a:rPr lang="en-US" dirty="0"/>
              <a:t>Create comparable groups to approximate a randomized controlled trial 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5320B-EB33-BE41-B195-1983A0B5F86C}"/>
              </a:ext>
            </a:extLst>
          </p:cNvPr>
          <p:cNvSpPr/>
          <p:nvPr/>
        </p:nvSpPr>
        <p:spPr>
          <a:xfrm>
            <a:off x="584948" y="3429000"/>
            <a:ext cx="765137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chemeClr val="accent1"/>
                </a:solidFill>
              </a:rPr>
              <a:t>Q: Can you think of an example in your own practice where treatment choice is biased?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86EFFA-5445-2D43-A7ED-740DFC43F618}"/>
              </a:ext>
            </a:extLst>
          </p:cNvPr>
          <p:cNvSpPr/>
          <p:nvPr/>
        </p:nvSpPr>
        <p:spPr>
          <a:xfrm>
            <a:off x="344315" y="2998695"/>
            <a:ext cx="8678661" cy="256838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5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Treatment vs Control</a:t>
            </a:r>
          </a:p>
          <a:p>
            <a:r>
              <a:rPr dirty="0"/>
              <a:t>Confounders</a:t>
            </a:r>
            <a:r>
              <a:rPr lang="en-US" dirty="0"/>
              <a:t>: Variables influencing both treatment and outcome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chemeClr val="accent1"/>
                </a:solidFill>
              </a:rPr>
              <a:t>Ask yourself: Would this variable influence my 	treatment decision AND patient prognosis?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	If yes → </a:t>
            </a:r>
            <a:r>
              <a:rPr lang="en-US" u="sng" dirty="0">
                <a:solidFill>
                  <a:schemeClr val="accent1"/>
                </a:solidFill>
              </a:rPr>
              <a:t>it’s a confounder</a:t>
            </a:r>
          </a:p>
          <a:p>
            <a:endParaRPr dirty="0"/>
          </a:p>
          <a:p>
            <a:r>
              <a:rPr lang="en-US" dirty="0"/>
              <a:t>Bias in observational data</a:t>
            </a:r>
            <a:endParaRPr dirty="0"/>
          </a:p>
          <a:p>
            <a:r>
              <a:rPr u="sng" dirty="0"/>
              <a:t>Goal</a:t>
            </a:r>
            <a:r>
              <a:rPr lang="en-US" u="sng" dirty="0"/>
              <a:t> of matching</a:t>
            </a:r>
            <a:r>
              <a:rPr dirty="0"/>
              <a:t>: balance covariates</a:t>
            </a:r>
            <a:r>
              <a:rPr lang="en-US" dirty="0"/>
              <a:t> between groups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43B73C-FB99-8F4F-9FED-9834FC4B1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717" y="247744"/>
            <a:ext cx="1169894" cy="11698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Exact Matching</a:t>
            </a:r>
            <a:r>
              <a:rPr lang="en-US" dirty="0"/>
              <a:t> (Strict criteria)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sz="2800" dirty="0"/>
              <a:t>Match identical covariates</a:t>
            </a:r>
            <a:endParaRPr lang="en-US" sz="2800" dirty="0"/>
          </a:p>
          <a:p>
            <a:pPr lvl="1"/>
            <a:r>
              <a:rPr lang="en-US" sz="2400" dirty="0"/>
              <a:t>Same age/severity/comorbidities</a:t>
            </a:r>
            <a:endParaRPr sz="2400" dirty="0"/>
          </a:p>
          <a:p>
            <a:pPr marL="400050" lvl="1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✔</a:t>
            </a:r>
            <a:r>
              <a:rPr lang="en-US" sz="2400" dirty="0"/>
              <a:t>  Very interpretable</a:t>
            </a:r>
          </a:p>
          <a:p>
            <a:pPr marL="400050" lvl="1" indent="0">
              <a:buNone/>
            </a:pPr>
            <a:r>
              <a:rPr lang="en-US" sz="2400" dirty="0"/>
              <a:t>✘ </a:t>
            </a:r>
            <a:r>
              <a:rPr sz="2400" dirty="0"/>
              <a:t>Often </a:t>
            </a:r>
            <a:r>
              <a:rPr lang="en-US" sz="2400" dirty="0"/>
              <a:t>impractical with many variables (data becomes sparse)</a:t>
            </a:r>
          </a:p>
          <a:p>
            <a:pPr marL="0" indent="0">
              <a:buNone/>
            </a:pPr>
            <a:endParaRPr lang="en-US" sz="2800" dirty="0"/>
          </a:p>
          <a:p>
            <a:r>
              <a:rPr lang="en-US" sz="2800" dirty="0"/>
              <a:t>Coarsened Exact Matching (CEM)</a:t>
            </a:r>
          </a:p>
          <a:p>
            <a:pPr lvl="1"/>
            <a:r>
              <a:rPr lang="en-US" sz="2400" dirty="0"/>
              <a:t>Groups variables into bins</a:t>
            </a:r>
          </a:p>
          <a:p>
            <a:pPr lvl="1"/>
            <a:r>
              <a:rPr lang="en-US" sz="2400" dirty="0"/>
              <a:t>Performs exact matching on those bins</a:t>
            </a:r>
          </a:p>
          <a:p>
            <a:pPr lvl="1"/>
            <a:r>
              <a:rPr lang="en-US" sz="2400" dirty="0"/>
              <a:t>Ex. age 30–40 instead of exact 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Propensity Score Matching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probability that a patient receives treatment, given their characteristics</a:t>
            </a:r>
          </a:p>
          <a:p>
            <a:r>
              <a:rPr lang="en-US" dirty="0"/>
              <a:t>Logistic regression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532AC5-E938-B744-865F-9D89841164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3429000"/>
            <a:ext cx="5435600" cy="273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55466-378E-3A49-8197-465A7089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05CC-D927-5F48-8CC5-948A7601F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81177"/>
            <a:ext cx="8229600" cy="1724891"/>
          </a:xfrm>
        </p:spPr>
        <p:txBody>
          <a:bodyPr>
            <a:normAutofit/>
          </a:bodyPr>
          <a:lstStyle/>
          <a:p>
            <a:r>
              <a:rPr lang="en-US" sz="2400" dirty="0"/>
              <a:t>Fundamental ML algorithm used for binary classification by modeling probabilities using a sigmoid function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12688C3-9142-544A-88CC-D53D8FC5A899}"/>
              </a:ext>
            </a:extLst>
          </p:cNvPr>
          <p:cNvGrpSpPr/>
          <p:nvPr/>
        </p:nvGrpSpPr>
        <p:grpSpPr>
          <a:xfrm>
            <a:off x="1150112" y="2783328"/>
            <a:ext cx="6843775" cy="2952624"/>
            <a:chOff x="762371" y="2700201"/>
            <a:chExt cx="6843775" cy="2952624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4A9CFF-43F0-0C4E-8056-11156B10DD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8785" y="2700201"/>
              <a:ext cx="6557361" cy="2952624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B2A015-1286-2444-8E0C-8C0AE0BD9BDC}"/>
                </a:ext>
              </a:extLst>
            </p:cNvPr>
            <p:cNvSpPr/>
            <p:nvPr/>
          </p:nvSpPr>
          <p:spPr>
            <a:xfrm>
              <a:off x="6580909" y="5283493"/>
              <a:ext cx="512618" cy="18466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558D002-0309-6243-9A48-FE4236DD496A}"/>
                </a:ext>
              </a:extLst>
            </p:cNvPr>
            <p:cNvSpPr/>
            <p:nvPr/>
          </p:nvSpPr>
          <p:spPr>
            <a:xfrm>
              <a:off x="2482805" y="5283493"/>
              <a:ext cx="151458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Severity score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A9F63CD-F433-9343-82A6-07BB876659A5}"/>
                </a:ext>
              </a:extLst>
            </p:cNvPr>
            <p:cNvSpPr/>
            <p:nvPr/>
          </p:nvSpPr>
          <p:spPr>
            <a:xfrm rot="16200000">
              <a:off x="398679" y="4055759"/>
              <a:ext cx="1466047" cy="73866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2"/>
                  </a:solidFill>
                </a:rPr>
                <a:t>Probability of receiving  treated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990FAF4-EFC7-F249-BF52-F468595EA5B0}"/>
                </a:ext>
              </a:extLst>
            </p:cNvPr>
            <p:cNvSpPr/>
            <p:nvPr/>
          </p:nvSpPr>
          <p:spPr>
            <a:xfrm rot="16200000">
              <a:off x="4251068" y="4169763"/>
              <a:ext cx="512618" cy="184666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5700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Nearest neighbor matching (</a:t>
            </a:r>
            <a:r>
              <a:rPr dirty="0"/>
              <a:t>Distance-Based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1954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1. Define similarity</a:t>
            </a:r>
          </a:p>
          <a:p>
            <a:pPr lvl="1"/>
            <a:r>
              <a:rPr lang="en-US" sz="2000" dirty="0"/>
              <a:t>You first decide how to measure “closeness”:</a:t>
            </a:r>
          </a:p>
          <a:p>
            <a:pPr lvl="1"/>
            <a:r>
              <a:rPr lang="en-US" sz="2000" dirty="0"/>
              <a:t>Difference in propensity scores (most common) </a:t>
            </a:r>
          </a:p>
          <a:p>
            <a:pPr lvl="1"/>
            <a:r>
              <a:rPr lang="en-US" sz="2000" dirty="0"/>
              <a:t>Or a multivariate distance like </a:t>
            </a:r>
            <a:r>
              <a:rPr lang="en-US" sz="2000" dirty="0" err="1"/>
              <a:t>Mahalanobis</a:t>
            </a:r>
            <a:r>
              <a:rPr lang="en-US" sz="2000" dirty="0"/>
              <a:t> Distance </a:t>
            </a:r>
          </a:p>
          <a:p>
            <a:pPr marL="0" indent="0">
              <a:buNone/>
            </a:pPr>
            <a:r>
              <a:rPr lang="en-US" sz="2400" b="1" dirty="0"/>
              <a:t>2. For each treated patient:</a:t>
            </a:r>
          </a:p>
          <a:p>
            <a:pPr lvl="1"/>
            <a:r>
              <a:rPr lang="en-US" sz="2000" dirty="0"/>
              <a:t>Compute distance to all control patients </a:t>
            </a:r>
          </a:p>
          <a:p>
            <a:pPr lvl="1"/>
            <a:r>
              <a:rPr lang="en-US" sz="2000" dirty="0"/>
              <a:t>Select the control with the </a:t>
            </a:r>
            <a:r>
              <a:rPr lang="en-US" sz="2000" b="1" dirty="0"/>
              <a:t>smallest distance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en-US" sz="2400" b="1" dirty="0"/>
              <a:t>3. Form matched pairs (or sets)</a:t>
            </a:r>
          </a:p>
          <a:p>
            <a:pPr lvl="1"/>
            <a:r>
              <a:rPr lang="en-US" sz="2000" dirty="0"/>
              <a:t>1:1 matching → one control per treated </a:t>
            </a:r>
          </a:p>
          <a:p>
            <a:pPr lvl="1"/>
            <a:r>
              <a:rPr lang="en-US" sz="2000" dirty="0"/>
              <a:t>1:k matching → multiple controls per treated </a:t>
            </a:r>
          </a:p>
          <a:p>
            <a:endParaRPr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456AA2-4459-0843-B260-889E46AD1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8152" y="3580107"/>
            <a:ext cx="2508648" cy="28849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C401C-E281-FB44-8A9A-D5ED05868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 </a:t>
            </a:r>
            <a:br>
              <a:rPr lang="en-US" dirty="0"/>
            </a:br>
            <a:r>
              <a:rPr lang="en-US" dirty="0" err="1"/>
              <a:t>Mahalanobis</a:t>
            </a:r>
            <a:r>
              <a:rPr lang="en-US" dirty="0"/>
              <a:t> Distance Matching: A ‘smart’ distance</a:t>
            </a:r>
            <a:br>
              <a:rPr lang="en-US" dirty="0"/>
            </a:b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68A79B-6596-9945-9F5A-C483FC490FAC}"/>
              </a:ext>
            </a:extLst>
          </p:cNvPr>
          <p:cNvSpPr/>
          <p:nvPr/>
        </p:nvSpPr>
        <p:spPr>
          <a:xfrm>
            <a:off x="457200" y="1596329"/>
            <a:ext cx="8417859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Problem: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Not all variables are on the same scale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And some variables are correlated</a:t>
            </a:r>
          </a:p>
          <a:p>
            <a:r>
              <a:rPr lang="en-US" sz="2400" dirty="0"/>
              <a:t>	For example: Age (range: 2090), lab values (very different 	scales) or clinical scores</a:t>
            </a:r>
          </a:p>
          <a:p>
            <a:endParaRPr lang="en-US" sz="2400" dirty="0"/>
          </a:p>
          <a:p>
            <a:r>
              <a:rPr lang="en-US" sz="2400" b="1" dirty="0"/>
              <a:t>Intuition: </a:t>
            </a:r>
            <a:r>
              <a:rPr lang="en-US" sz="2400" dirty="0"/>
              <a:t>How unusual is this difference, given the data?</a:t>
            </a:r>
          </a:p>
          <a:p>
            <a:endParaRPr lang="en-US" sz="2400" dirty="0"/>
          </a:p>
          <a:p>
            <a:r>
              <a:rPr lang="en-US" sz="2400" b="1" dirty="0"/>
              <a:t>Clinical Interpretation</a:t>
            </a:r>
          </a:p>
          <a:p>
            <a:r>
              <a:rPr lang="en-US" sz="2400" dirty="0"/>
              <a:t>This is especially useful when: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Variables are correlated (e.g., BMI and diabetes)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Variables have very different scales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You want more precise matching</a:t>
            </a:r>
          </a:p>
        </p:txBody>
      </p:sp>
    </p:spTree>
    <p:extLst>
      <p:ext uri="{BB962C8B-B14F-4D97-AF65-F5344CB8AC3E}">
        <p14:creationId xmlns:p14="http://schemas.microsoft.com/office/powerpoint/2010/main" val="2071652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402629-5854-C341-8562-E33AADF90EEF}"/>
              </a:ext>
            </a:extLst>
          </p:cNvPr>
          <p:cNvSpPr/>
          <p:nvPr/>
        </p:nvSpPr>
        <p:spPr>
          <a:xfrm>
            <a:off x="725959" y="1582340"/>
            <a:ext cx="769208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</a:rPr>
              <a:t>The </a:t>
            </a:r>
            <a:r>
              <a:rPr lang="en-US" dirty="0" err="1">
                <a:solidFill>
                  <a:srgbClr val="212529"/>
                </a:solidFill>
              </a:rPr>
              <a:t>Mahalanobis</a:t>
            </a:r>
            <a:r>
              <a:rPr lang="en-US" dirty="0">
                <a:solidFill>
                  <a:srgbClr val="212529"/>
                </a:solidFill>
              </a:rPr>
              <a:t> distance is computed as </a:t>
            </a: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endParaRPr lang="en-US" dirty="0">
              <a:solidFill>
                <a:srgbClr val="212529"/>
              </a:solidFill>
            </a:endParaRPr>
          </a:p>
          <a:p>
            <a:r>
              <a:rPr lang="en-US" dirty="0">
                <a:solidFill>
                  <a:srgbClr val="212529"/>
                </a:solidFill>
              </a:rPr>
              <a:t>Where</a:t>
            </a:r>
          </a:p>
          <a:p>
            <a:r>
              <a:rPr lang="en-US" i="1" dirty="0">
                <a:solidFill>
                  <a:srgbClr val="FF0000"/>
                </a:solidFill>
              </a:rPr>
              <a:t>i</a:t>
            </a:r>
            <a:r>
              <a:rPr lang="en-US" i="1" dirty="0"/>
              <a:t> </a:t>
            </a:r>
            <a:r>
              <a:rPr lang="en-US" dirty="0"/>
              <a:t>and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j</a:t>
            </a:r>
            <a:r>
              <a:rPr lang="en-US" dirty="0"/>
              <a:t> are two patients </a:t>
            </a:r>
          </a:p>
          <a:p>
            <a:r>
              <a:rPr lang="en-US" dirty="0"/>
              <a:t>Each represented by a vector </a:t>
            </a:r>
            <a:r>
              <a:rPr lang="en-US" b="1" i="1" dirty="0">
                <a:solidFill>
                  <a:srgbClr val="FF0000"/>
                </a:solidFill>
              </a:rPr>
              <a:t>x</a:t>
            </a:r>
            <a:r>
              <a:rPr lang="en-US" dirty="0"/>
              <a:t> of variables</a:t>
            </a:r>
            <a:endParaRPr lang="en-US" dirty="0">
              <a:solidFill>
                <a:srgbClr val="212529"/>
              </a:solidFill>
            </a:endParaRPr>
          </a:p>
          <a:p>
            <a:r>
              <a:rPr lang="el-GR" b="1" dirty="0">
                <a:solidFill>
                  <a:srgbClr val="FF0000"/>
                </a:solidFill>
              </a:rPr>
              <a:t>Σ</a:t>
            </a:r>
            <a:r>
              <a:rPr lang="el-GR" dirty="0">
                <a:solidFill>
                  <a:srgbClr val="212529"/>
                </a:solidFill>
              </a:rPr>
              <a:t> </a:t>
            </a:r>
            <a:r>
              <a:rPr lang="en-US" dirty="0">
                <a:solidFill>
                  <a:srgbClr val="212529"/>
                </a:solidFill>
              </a:rPr>
              <a:t>is covariance matrix of the covariates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1AD1B0-E62C-9348-958C-A4338AB38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Mahalanobis</a:t>
            </a:r>
            <a:r>
              <a:rPr lang="en-US" dirty="0"/>
              <a:t> Distance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D396A6-D317-224A-B290-DBD0D6ED2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886" y="2118327"/>
            <a:ext cx="6642100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45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48FDC-97C9-FA4A-AEE1-7799682A5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Matching Methods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D68B01-C236-CB48-9857-DD365318E67A}"/>
              </a:ext>
            </a:extLst>
          </p:cNvPr>
          <p:cNvSpPr/>
          <p:nvPr/>
        </p:nvSpPr>
        <p:spPr>
          <a:xfrm>
            <a:off x="525199" y="1613118"/>
            <a:ext cx="816160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Kernel Matching / Weighting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Instead of matching pairs, assigns weights to all controls based on similarity </a:t>
            </a:r>
          </a:p>
          <a:p>
            <a:endParaRPr lang="en-US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Genetic Matching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Uses optimization algorithms to find the best balance across covariates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Iteratively improves matching quality </a:t>
            </a:r>
          </a:p>
          <a:p>
            <a:r>
              <a:rPr lang="en-US" sz="2400" dirty="0"/>
              <a:t>	✔ Very powerful</a:t>
            </a:r>
            <a:br>
              <a:rPr lang="en-US" sz="2400" dirty="0"/>
            </a:br>
            <a:r>
              <a:rPr lang="en-US" sz="2400" dirty="0"/>
              <a:t>	✘ Computationally intensive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71854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06E5A-734C-EB4E-A8E9-73D106B48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summary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35C99-E582-8749-A9B3-6CFD77769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01800"/>
            <a:ext cx="7543800" cy="316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170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dirty="0"/>
              <a:t>Define treatment &amp; outcome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Select covariates</a:t>
            </a:r>
          </a:p>
          <a:p>
            <a:pPr marL="514350" indent="-514350">
              <a:buFont typeface="+mj-lt"/>
              <a:buAutoNum type="arabicPeriod"/>
            </a:pPr>
            <a:r>
              <a:rPr dirty="0"/>
              <a:t>Estimate propensity scores</a:t>
            </a:r>
          </a:p>
          <a:p>
            <a:pPr marL="514350" indent="-514350">
              <a:buFont typeface="+mj-lt"/>
              <a:buAutoNum type="arabicPeriod"/>
            </a:pPr>
            <a:r>
              <a:rPr dirty="0"/>
              <a:t>Match</a:t>
            </a:r>
          </a:p>
          <a:p>
            <a:pPr marL="514350" indent="-514350">
              <a:buFont typeface="+mj-lt"/>
              <a:buAutoNum type="arabicPeriod"/>
            </a:pPr>
            <a:r>
              <a:rPr u="sng" dirty="0"/>
              <a:t>Check balance</a:t>
            </a:r>
          </a:p>
          <a:p>
            <a:pPr marL="514350" indent="-514350">
              <a:buFont typeface="+mj-lt"/>
              <a:buAutoNum type="arabicPeriod"/>
            </a:pPr>
            <a:r>
              <a:rPr dirty="0"/>
              <a:t>Estimate effect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232A-54BA-3C44-9D49-1DB7B5C9D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Hands-On Exercise: Match patients manually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6B6A91D-01F5-BE42-8FB4-089D80A907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740676"/>
              </p:ext>
            </p:extLst>
          </p:nvPr>
        </p:nvGraphicFramePr>
        <p:xfrm>
          <a:off x="619312" y="2987298"/>
          <a:ext cx="4127500" cy="1422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5500">
                  <a:extLst>
                    <a:ext uri="{9D8B030D-6E8A-4147-A177-3AD203B41FA5}">
                      <a16:colId xmlns:a16="http://schemas.microsoft.com/office/drawing/2014/main" val="1043180938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32417043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111995974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2492453063"/>
                    </a:ext>
                  </a:extLst>
                </a:gridCol>
                <a:gridCol w="825500">
                  <a:extLst>
                    <a:ext uri="{9D8B030D-6E8A-4147-A177-3AD203B41FA5}">
                      <a16:colId xmlns:a16="http://schemas.microsoft.com/office/drawing/2014/main" val="3381857628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</a:rPr>
                        <a:t>Patient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</a:rPr>
                        <a:t>Treatment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</a:rPr>
                        <a:t>Age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</a:rPr>
                        <a:t>Severity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</a:rPr>
                        <a:t>Outcome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27361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Yes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70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High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1548479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Yes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65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High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0442661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Yes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60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Medium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0920590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No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40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Low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910316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No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45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Low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019564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No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50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>
                          <a:effectLst/>
                        </a:rPr>
                        <a:t>Medium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23897339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A2968D5C-DF8F-B24B-B5C1-104CEBBD4799}"/>
              </a:ext>
            </a:extLst>
          </p:cNvPr>
          <p:cNvSpPr/>
          <p:nvPr/>
        </p:nvSpPr>
        <p:spPr>
          <a:xfrm>
            <a:off x="619312" y="1417638"/>
            <a:ext cx="727411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Scenario: </a:t>
            </a:r>
            <a:r>
              <a:rPr lang="en-US" sz="2400" dirty="0"/>
              <a:t>You are studying whether a new treatment improves outcomes</a:t>
            </a:r>
          </a:p>
          <a:p>
            <a:endParaRPr lang="en-US" sz="2400" dirty="0"/>
          </a:p>
          <a:p>
            <a:r>
              <a:rPr lang="en-US" sz="2400" b="1" dirty="0"/>
              <a:t>Dataset of 6 patients: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7287D7-9255-0749-B75C-FC60AE7A6498}"/>
              </a:ext>
            </a:extLst>
          </p:cNvPr>
          <p:cNvSpPr/>
          <p:nvPr/>
        </p:nvSpPr>
        <p:spPr>
          <a:xfrm>
            <a:off x="619312" y="4719482"/>
            <a:ext cx="666974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Identify Bias: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What differences do you notice between groups?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Who is more likely to receive treatment? </a:t>
            </a:r>
          </a:p>
        </p:txBody>
      </p:sp>
    </p:spTree>
    <p:extLst>
      <p:ext uri="{BB962C8B-B14F-4D97-AF65-F5344CB8AC3E}">
        <p14:creationId xmlns:p14="http://schemas.microsoft.com/office/powerpoint/2010/main" val="2271375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Unmeasured confounders</a:t>
            </a:r>
          </a:p>
          <a:p>
            <a:r>
              <a:rPr dirty="0"/>
              <a:t>Poor overlap</a:t>
            </a:r>
          </a:p>
          <a:p>
            <a:r>
              <a:rPr dirty="0"/>
              <a:t>Sample size reduction</a:t>
            </a:r>
          </a:p>
          <a:p>
            <a:r>
              <a:rPr dirty="0"/>
              <a:t>Not perfect causal inference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Matching improves comparability</a:t>
            </a:r>
          </a:p>
          <a:p>
            <a:r>
              <a:rPr dirty="0"/>
              <a:t>Always check balance</a:t>
            </a:r>
          </a:p>
          <a:p>
            <a:r>
              <a:rPr dirty="0"/>
              <a:t>Use as a tool, not a 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</TotalTime>
  <Words>592</Words>
  <Application>Microsoft Macintosh PowerPoint</Application>
  <PresentationFormat>On-screen Show (4:3)</PresentationFormat>
  <Paragraphs>153</Paragraphs>
  <Slides>16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Matching Algorithms in Clinical Data: From Confounding to Causal Insight</vt:lpstr>
      <vt:lpstr>Why Matching Matters?</vt:lpstr>
      <vt:lpstr>Goal of matching</vt:lpstr>
      <vt:lpstr>Key Concepts</vt:lpstr>
      <vt:lpstr>Exact Matching (Strict criteria)</vt:lpstr>
      <vt:lpstr>Propensity Score Matching</vt:lpstr>
      <vt:lpstr>Logistic regression</vt:lpstr>
      <vt:lpstr>Nearest neighbor matching (Distance-Based)</vt:lpstr>
      <vt:lpstr>  Mahalanobis Distance Matching: A ‘smart’ distance </vt:lpstr>
      <vt:lpstr>Mahalanobis Distance</vt:lpstr>
      <vt:lpstr>Advanced Matching Methods </vt:lpstr>
      <vt:lpstr>Quick summary</vt:lpstr>
      <vt:lpstr>Workflow</vt:lpstr>
      <vt:lpstr>Hands-On Exercise: Match patients manually</vt:lpstr>
      <vt:lpstr>Limitations</vt:lpstr>
      <vt:lpstr>Takeaways</vt:lpstr>
    </vt:vector>
  </TitlesOfParts>
  <Manager/>
  <Company/>
  <LinksUpToDate>false</LinksUpToDate>
  <SharedDoc>false</SharedDoc>
  <HyperlinkBase/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Matching Algorithms in Clinical Data: From Confounding to Causal Insight</dc:title>
  <dc:subject/>
  <dc:creator/>
  <cp:keywords/>
  <dc:description>generated using python-pptx</dc:description>
  <cp:lastModifiedBy>Daniela</cp:lastModifiedBy>
  <cp:revision>45</cp:revision>
  <dcterms:created xsi:type="dcterms:W3CDTF">2013-01-27T09:14:16Z</dcterms:created>
  <dcterms:modified xsi:type="dcterms:W3CDTF">2026-04-09T22:52:47Z</dcterms:modified>
  <cp:category/>
</cp:coreProperties>
</file>